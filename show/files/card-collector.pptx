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9" r:id="rId5"/>
    <p:sldId id="275" r:id="rId21"/>
    <p:sldId id="262" r:id="rId8"/>
    <p:sldId id="276" r:id="rId22"/>
    <p:sldId id="287" r:id="rId33"/>
    <p:sldId id="278" r:id="rId24"/>
    <p:sldId id="291" r:id="rId3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4.xml"/><Relationship Id="rId8" Type="http://schemas.openxmlformats.org/officeDocument/2006/relationships/slide" Target="slides/slide7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4" Type="http://schemas.openxmlformats.org/officeDocument/2006/relationships/slide" Target="slides/slide23.xml"/><Relationship Id="rId33" Type="http://schemas.openxmlformats.org/officeDocument/2006/relationships/slide" Target="slides/slide32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Photo: "Cr1TiKaL in 2022 - 2.jpg" by Ruxin34, Wikimedia Commons, CC BY 3.0: https://commons.wikimedia.org/wiki/File:Cr1TiKaL_in_2022_-_2.jpg</a:t>
            </a:r>
          </a:p>
          <a:p>
            <a:r>
              <a:rPr lang="en-US"/>
              <a:t>Sources: https://youtube.fandom.com/wiki/Penguinz0 ; https://fabledframing.co.uk/blogs/journal/moistcr1tikal-penguinz0-yu-gi-oh-collection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Photo: "Cr1TiKaL in 2022.jpg" by Ruxin34, Wikimedia Commons, CC BY 3.0: https://commons.wikimedia.org/wiki/File:Cr1TiKaL_in_2022.jpg</a:t>
            </a:r>
          </a:p>
          <a:p>
            <a:r>
              <a:rPr lang="en-US"/>
              <a:t>Facts: https://youtube.fandom.com/wiki/Penguinz0 ; https://commons.wikimedia.org/wiki/Category:Cr1TiKaL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Photo: "Ruxin34 and Cr1TiKaL.jpg" (cropped) by Ruxin34, Wikimedia Commons, CC BY 3.0: https://commons.wikimedia.org/wiki/File:Ruxin34_and_Cr1TiKaL.jpg</a:t>
            </a:r>
          </a:p>
          <a:p>
            <a:r>
              <a:rPr lang="en-US"/>
              <a:t>2019 card openings on streams: https://youtube.fandom.com/wiki/Penguinz0 ("Since late-2019 ... Card Openings")</a:t>
            </a:r>
          </a:p>
          <a:p>
            <a:r>
              <a:rPr lang="en-US"/>
              <a:t>Thousands of dollars: https://medium.com/exploring-sobriety/youtuber-penguinz0s-important-lesson-about-addiction-3f512f150140 (over $10,000 on cards in a single month)</a:t>
            </a:r>
          </a:p>
          <a:p>
            <a:r>
              <a:rPr lang="en-US"/>
              <a:t>2022 video: https://fabledframing.co.uk/blogs/journal/moistcr1tikal-penguinz0-yu-gi-oh-collection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Card scans: Blue-Eyes White Dragon LOB-EN (Yugipedia): https://yugipedia.com/wiki/File:BlueEyesWhiteDragon-LOB-EN-UR-UE.png</a:t>
            </a:r>
          </a:p>
          <a:p>
            <a:r>
              <a:rPr lang="en-US"/>
              <a:t>Dark Magician LOB-EN (Yugipedia): https://yugipedia.com/wiki/File:DarkMagician-LOB-EN-UR-UE.png</a:t>
            </a:r>
          </a:p>
          <a:p>
            <a:r>
              <a:rPr lang="en-US"/>
              <a:t>Charizard Base Set 4 (Bulbapedia Archives): https://archives.bulbagarden.net/wiki/File:CharizardBaseSet4.jpg</a:t>
            </a:r>
          </a:p>
          <a:p>
            <a:r>
              <a:rPr lang="en-US"/>
              <a:t>Fact (collects Yu-Gi-Oh! and Pokemon): https://youtube.fandom.com/wiki/Penguinz0 ; https://fabledframing.co.uk/blogs/journal/moistcr1tikal-penguinz0-yu-gi-oh-collection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Facts: https://fabledframing.co.uk/blogs/journal/moistcr1tikal-penguinz0-yu-gi-oh-collection (every Ultra Rare and above, all first edition; 1st ed. Legend of Blue-Eyes White Dragon; all sixty Collector's Rares; much of it framed on the walls)</a:t>
            </a:r>
          </a:p>
          <a:p>
            <a:r>
              <a:rPr lang="en-US"/>
              <a:t>Photo: screenshot of the video https://www.youtube.com/watch?v=pluQWcp_Jx4 as shown on the Fabled Framing article. The frame shows Charlie; the framed card walls are not visible in this still.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Example sentences use facts from earlier slides: https://youtube.fandom.com/wiki/Penguinz0 ; https://fabledframing.co.uk/blogs/journal/moistcr1tikal-penguinz0-yu-gi-oh-collection ; https://medium.com/exploring-sobriety/youtuber-penguinz0s-important-lesson-about-addiction-3f512f150140</a:t>
            </a:r>
          </a:p>
          <a:p>
            <a:r>
              <a:rPr lang="en-US"/>
              <a:t>Photo: thumbnail of penguinz0 "I'm Still Not Addicted": https://www.youtube.com/watch?v=cqUcJrJrQiU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"Addiction" joke: https://youtube.fandom.com/wiki/Penguinz0 ("Charlie jokingly calls it an addiction")</a:t>
            </a:r>
          </a:p>
          <a:p>
            <a:r>
              <a:rPr lang="en-US"/>
              <a:t>Money / views: https://medium.com/exploring-sobriety/youtuber-penguinz0s-important-lesson-about-addiction-3f512f150140</a:t>
            </a:r>
          </a:p>
          <a:p>
            <a:r>
              <a:rPr lang="en-US"/>
              <a:t>Thumbnail: https://i.ytimg.com/vi/cqUcJrJrQiU/maxresdefault.jpg ; video: https://www.youtube.com/watch?v=cqUcJrJrQiU ("I'm Still Not Addicted", penguinz0)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Photo: "Cr1TiKaL in 2022 - 2.jpg" by Ruxin34, Wikimedia Commons, CC BY 3.0: https://commons.wikimedia.org/wiki/File:Cr1TiKaL_in_2022_-_2.jpg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g1_cover.jpe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g1_who.jpe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g2_timeline.jpe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g1_blueeyes.jpg"/><Relationship Id="rId4" Type="http://schemas.openxmlformats.org/officeDocument/2006/relationships/image" Target="../media/g1_darkmagician.jpg"/><Relationship Id="rId5" Type="http://schemas.openxmlformats.org/officeDocument/2006/relationships/image" Target="../media/g1_charizard.jpe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g2_collection.jpe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g3_grammar.jpeg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g2_addiction.jpg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g3_thanks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86E7"/>
          </a:solidFill>
          <a:ln/>
        </p:spPr>
      </p:sp>
      <p:sp>
        <p:nvSpPr>
          <p:cNvPr id="3" name="Shape 1"/>
          <p:cNvSpPr/>
          <p:nvPr/>
        </p:nvSpPr>
        <p:spPr>
          <a:xfrm>
            <a:off x="6140196" y="705002"/>
            <a:ext cx="5490972" cy="5029200"/>
          </a:xfrm>
          <a:custGeom>
            <a:avLst/>
            <a:gdLst/>
            <a:ahLst/>
            <a:cxnLst/>
            <a:rect l="l" t="t" r="r" b="b"/>
            <a:pathLst>
              <a:path w="5490972" h="5029200">
                <a:moveTo>
                  <a:pt x="1833985" y="231343"/>
                </a:moveTo>
                <a:lnTo>
                  <a:pt x="2064605" y="105613"/>
                </a:lnTo>
                <a:lnTo>
                  <a:pt x="2328172" y="50292"/>
                </a:lnTo>
                <a:lnTo>
                  <a:pt x="2597230" y="80467"/>
                </a:lnTo>
                <a:lnTo>
                  <a:pt x="2761959" y="145847"/>
                </a:lnTo>
                <a:lnTo>
                  <a:pt x="2976107" y="306781"/>
                </a:lnTo>
                <a:lnTo>
                  <a:pt x="3129854" y="523037"/>
                </a:lnTo>
                <a:lnTo>
                  <a:pt x="3217710" y="779526"/>
                </a:lnTo>
                <a:lnTo>
                  <a:pt x="3267128" y="1156716"/>
                </a:lnTo>
                <a:lnTo>
                  <a:pt x="3431858" y="1388059"/>
                </a:lnTo>
                <a:lnTo>
                  <a:pt x="3783280" y="1538935"/>
                </a:lnTo>
                <a:lnTo>
                  <a:pt x="4420232" y="1579169"/>
                </a:lnTo>
                <a:lnTo>
                  <a:pt x="4744200" y="1654607"/>
                </a:lnTo>
                <a:lnTo>
                  <a:pt x="5117586" y="1875892"/>
                </a:lnTo>
                <a:lnTo>
                  <a:pt x="5320752" y="2132381"/>
                </a:lnTo>
                <a:lnTo>
                  <a:pt x="5392135" y="2343607"/>
                </a:lnTo>
                <a:lnTo>
                  <a:pt x="5397625" y="2559863"/>
                </a:lnTo>
                <a:lnTo>
                  <a:pt x="5342716" y="2776118"/>
                </a:lnTo>
                <a:lnTo>
                  <a:pt x="5232896" y="2957170"/>
                </a:lnTo>
                <a:lnTo>
                  <a:pt x="5062676" y="3087929"/>
                </a:lnTo>
                <a:lnTo>
                  <a:pt x="4541034" y="3253892"/>
                </a:lnTo>
                <a:lnTo>
                  <a:pt x="4376305" y="3394710"/>
                </a:lnTo>
                <a:lnTo>
                  <a:pt x="4332377" y="3585820"/>
                </a:lnTo>
                <a:lnTo>
                  <a:pt x="4431214" y="4078681"/>
                </a:lnTo>
                <a:lnTo>
                  <a:pt x="4425723" y="4355287"/>
                </a:lnTo>
                <a:lnTo>
                  <a:pt x="4271976" y="4687214"/>
                </a:lnTo>
                <a:lnTo>
                  <a:pt x="3980955" y="4908499"/>
                </a:lnTo>
                <a:lnTo>
                  <a:pt x="3711897" y="4973879"/>
                </a:lnTo>
                <a:lnTo>
                  <a:pt x="3349493" y="4918558"/>
                </a:lnTo>
                <a:lnTo>
                  <a:pt x="3190255" y="4823003"/>
                </a:lnTo>
                <a:lnTo>
                  <a:pt x="2800396" y="4486046"/>
                </a:lnTo>
                <a:lnTo>
                  <a:pt x="2580757" y="4410608"/>
                </a:lnTo>
                <a:lnTo>
                  <a:pt x="2229335" y="4455871"/>
                </a:lnTo>
                <a:lnTo>
                  <a:pt x="1636310" y="4717390"/>
                </a:lnTo>
                <a:lnTo>
                  <a:pt x="1284887" y="4797857"/>
                </a:lnTo>
                <a:lnTo>
                  <a:pt x="955429" y="4712360"/>
                </a:lnTo>
                <a:lnTo>
                  <a:pt x="746772" y="4465930"/>
                </a:lnTo>
                <a:lnTo>
                  <a:pt x="669899" y="4224528"/>
                </a:lnTo>
                <a:lnTo>
                  <a:pt x="658917" y="3973068"/>
                </a:lnTo>
                <a:lnTo>
                  <a:pt x="812664" y="3153308"/>
                </a:lnTo>
                <a:lnTo>
                  <a:pt x="823646" y="2735885"/>
                </a:lnTo>
                <a:lnTo>
                  <a:pt x="708335" y="2429104"/>
                </a:lnTo>
                <a:lnTo>
                  <a:pt x="312985" y="2021738"/>
                </a:lnTo>
                <a:lnTo>
                  <a:pt x="203166" y="1845716"/>
                </a:lnTo>
                <a:lnTo>
                  <a:pt x="164729" y="1438351"/>
                </a:lnTo>
                <a:lnTo>
                  <a:pt x="258076" y="1181862"/>
                </a:lnTo>
                <a:lnTo>
                  <a:pt x="439278" y="985723"/>
                </a:lnTo>
                <a:lnTo>
                  <a:pt x="708335" y="895198"/>
                </a:lnTo>
                <a:lnTo>
                  <a:pt x="1048776" y="880110"/>
                </a:lnTo>
                <a:lnTo>
                  <a:pt x="1213505" y="829818"/>
                </a:lnTo>
                <a:lnTo>
                  <a:pt x="1394707" y="699059"/>
                </a:lnTo>
                <a:lnTo>
                  <a:pt x="1833985" y="231343"/>
                </a:lnTo>
                <a:close/>
              </a:path>
            </a:pathLst>
          </a:custGeom>
          <a:solidFill>
            <a:srgbClr val="D3D3D3"/>
          </a:solidFill>
          <a:ln/>
        </p:spPr>
      </p:sp>
      <p:sp>
        <p:nvSpPr>
          <p:cNvPr id="4" name="Shape 2"/>
          <p:cNvSpPr/>
          <p:nvPr/>
        </p:nvSpPr>
        <p:spPr>
          <a:xfrm>
            <a:off x="6396228" y="940003"/>
            <a:ext cx="4978908" cy="4559198"/>
          </a:xfrm>
          <a:custGeom>
            <a:avLst/>
            <a:gdLst/>
            <a:ahLst/>
            <a:cxnLst/>
            <a:rect l="l" t="t" r="r" b="b"/>
            <a:pathLst>
              <a:path w="4978908" h="4559198">
                <a:moveTo>
                  <a:pt x="1662955" y="209723"/>
                </a:moveTo>
                <a:lnTo>
                  <a:pt x="1872069" y="95743"/>
                </a:lnTo>
                <a:lnTo>
                  <a:pt x="2111057" y="45592"/>
                </a:lnTo>
                <a:lnTo>
                  <a:pt x="2355023" y="72947"/>
                </a:lnTo>
                <a:lnTo>
                  <a:pt x="2504391" y="132217"/>
                </a:lnTo>
                <a:lnTo>
                  <a:pt x="2698568" y="278111"/>
                </a:lnTo>
                <a:lnTo>
                  <a:pt x="2837978" y="474157"/>
                </a:lnTo>
                <a:lnTo>
                  <a:pt x="2917640" y="706676"/>
                </a:lnTo>
                <a:lnTo>
                  <a:pt x="2962450" y="1048616"/>
                </a:lnTo>
                <a:lnTo>
                  <a:pt x="3111818" y="1258339"/>
                </a:lnTo>
                <a:lnTo>
                  <a:pt x="3430468" y="1395115"/>
                </a:lnTo>
                <a:lnTo>
                  <a:pt x="4008021" y="1431588"/>
                </a:lnTo>
                <a:lnTo>
                  <a:pt x="4301777" y="1499976"/>
                </a:lnTo>
                <a:lnTo>
                  <a:pt x="4640342" y="1700581"/>
                </a:lnTo>
                <a:lnTo>
                  <a:pt x="4824562" y="1933100"/>
                </a:lnTo>
                <a:lnTo>
                  <a:pt x="4889288" y="2124586"/>
                </a:lnTo>
                <a:lnTo>
                  <a:pt x="4894267" y="2320632"/>
                </a:lnTo>
                <a:lnTo>
                  <a:pt x="4844477" y="2516678"/>
                </a:lnTo>
                <a:lnTo>
                  <a:pt x="4744899" y="2680809"/>
                </a:lnTo>
                <a:lnTo>
                  <a:pt x="4590553" y="2799348"/>
                </a:lnTo>
                <a:lnTo>
                  <a:pt x="4117557" y="2949801"/>
                </a:lnTo>
                <a:lnTo>
                  <a:pt x="3968190" y="3077459"/>
                </a:lnTo>
                <a:lnTo>
                  <a:pt x="3928358" y="3250708"/>
                </a:lnTo>
                <a:lnTo>
                  <a:pt x="4017979" y="3697510"/>
                </a:lnTo>
                <a:lnTo>
                  <a:pt x="4013000" y="3948266"/>
                </a:lnTo>
                <a:lnTo>
                  <a:pt x="3873590" y="4249173"/>
                </a:lnTo>
                <a:lnTo>
                  <a:pt x="3609708" y="4449778"/>
                </a:lnTo>
                <a:lnTo>
                  <a:pt x="3365742" y="4509047"/>
                </a:lnTo>
                <a:lnTo>
                  <a:pt x="3037134" y="4458896"/>
                </a:lnTo>
                <a:lnTo>
                  <a:pt x="2892746" y="4372271"/>
                </a:lnTo>
                <a:lnTo>
                  <a:pt x="2539243" y="4066805"/>
                </a:lnTo>
                <a:lnTo>
                  <a:pt x="2340087" y="3998417"/>
                </a:lnTo>
                <a:lnTo>
                  <a:pt x="2021437" y="4039450"/>
                </a:lnTo>
                <a:lnTo>
                  <a:pt x="1483715" y="4276528"/>
                </a:lnTo>
                <a:lnTo>
                  <a:pt x="1165064" y="4349475"/>
                </a:lnTo>
                <a:lnTo>
                  <a:pt x="866330" y="4271969"/>
                </a:lnTo>
                <a:lnTo>
                  <a:pt x="677131" y="4048568"/>
                </a:lnTo>
                <a:lnTo>
                  <a:pt x="607427" y="3829727"/>
                </a:lnTo>
                <a:lnTo>
                  <a:pt x="597469" y="3601767"/>
                </a:lnTo>
                <a:lnTo>
                  <a:pt x="736878" y="2858617"/>
                </a:lnTo>
                <a:lnTo>
                  <a:pt x="746836" y="2480204"/>
                </a:lnTo>
                <a:lnTo>
                  <a:pt x="642279" y="2202093"/>
                </a:lnTo>
                <a:lnTo>
                  <a:pt x="283798" y="1832798"/>
                </a:lnTo>
                <a:lnTo>
                  <a:pt x="184220" y="1673226"/>
                </a:lnTo>
                <a:lnTo>
                  <a:pt x="149367" y="1303931"/>
                </a:lnTo>
                <a:lnTo>
                  <a:pt x="234009" y="1071412"/>
                </a:lnTo>
                <a:lnTo>
                  <a:pt x="398313" y="893603"/>
                </a:lnTo>
                <a:lnTo>
                  <a:pt x="642279" y="811537"/>
                </a:lnTo>
                <a:lnTo>
                  <a:pt x="950971" y="797860"/>
                </a:lnTo>
                <a:lnTo>
                  <a:pt x="1100339" y="752268"/>
                </a:lnTo>
                <a:lnTo>
                  <a:pt x="1264643" y="633729"/>
                </a:lnTo>
                <a:lnTo>
                  <a:pt x="1662955" y="209723"/>
                </a:lnTo>
                <a:close/>
              </a:path>
            </a:pathLst>
          </a:custGeom>
          <a:solidFill>
            <a:srgbClr val="ADB9C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5257800" cy="274320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b"/>
          <a:lstStyle/>
          <a:p>
            <a:pPr algn="l" indent="0" marL="0">
              <a:buNone/>
            </a:pPr>
            <a:r>
              <a:rPr lang="en-US" sz="5400" b="1" spc="-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YouTuber Card Collector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6236208" y="5532120"/>
            <a:ext cx="5440680" cy="308153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l" indent="0" marL="0">
              <a:buNone/>
            </a:pPr>
            <a:r>
              <a:rPr lang="en-US" sz="1100" dirty="0" b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Photo: Ruxin34 / Wikimedia Commons, CC BY 3.0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694944" y="4343400"/>
            <a:ext cx="5394960" cy="54864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l" indent="0" marL="0">
              <a:buNone/>
            </a:pPr>
            <a:r>
              <a:rPr lang="en-US" sz="2800" dirty="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Charlie White (penguinz0)</a:t>
            </a:r>
          </a:p>
        </p:txBody>
      </p:sp>
      <p:pic>
        <p:nvPicPr>
          <p:cNvPr id="10" name="Charlie White (penguinz0) holding a Yu-Gi-Oh! card, March 2022" descr="Charlie White (penguinz0) holding a Yu-Gi-Oh! card, March 20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88" y="986638"/>
            <a:ext cx="4761281" cy="4465930"/>
          </a:xfrm>
          <a:custGeom>
            <a:avLst/>
            <a:gdLst/>
            <a:ahLst/>
            <a:cxnLst/>
            <a:rect l="l" t="t" r="r" b="b"/>
            <a:pathLst>
              <a:path w="4761281" h="4465930">
                <a:moveTo>
                  <a:pt x="1994977" y="0"/>
                </a:moveTo>
                <a:lnTo>
                  <a:pt x="2366357" y="84853"/>
                </a:lnTo>
                <a:lnTo>
                  <a:pt x="2613943" y="290285"/>
                </a:lnTo>
                <a:lnTo>
                  <a:pt x="2761543" y="580571"/>
                </a:lnTo>
                <a:lnTo>
                  <a:pt x="2837723" y="1036096"/>
                </a:lnTo>
                <a:lnTo>
                  <a:pt x="2975801" y="1214733"/>
                </a:lnTo>
                <a:lnTo>
                  <a:pt x="3294806" y="1348711"/>
                </a:lnTo>
                <a:lnTo>
                  <a:pt x="3870921" y="1384438"/>
                </a:lnTo>
                <a:lnTo>
                  <a:pt x="4256585" y="1491620"/>
                </a:lnTo>
                <a:lnTo>
                  <a:pt x="4575591" y="1723849"/>
                </a:lnTo>
                <a:lnTo>
                  <a:pt x="4727952" y="1978407"/>
                </a:lnTo>
                <a:lnTo>
                  <a:pt x="4761281" y="2174908"/>
                </a:lnTo>
                <a:lnTo>
                  <a:pt x="4737474" y="2375875"/>
                </a:lnTo>
                <a:lnTo>
                  <a:pt x="4604159" y="2634898"/>
                </a:lnTo>
                <a:lnTo>
                  <a:pt x="4451798" y="2751013"/>
                </a:lnTo>
                <a:lnTo>
                  <a:pt x="3980431" y="2902854"/>
                </a:lnTo>
                <a:lnTo>
                  <a:pt x="3832831" y="3032366"/>
                </a:lnTo>
                <a:lnTo>
                  <a:pt x="3789980" y="3206537"/>
                </a:lnTo>
                <a:lnTo>
                  <a:pt x="3889966" y="3733517"/>
                </a:lnTo>
                <a:lnTo>
                  <a:pt x="3851876" y="3979143"/>
                </a:lnTo>
                <a:lnTo>
                  <a:pt x="3675709" y="4264963"/>
                </a:lnTo>
                <a:lnTo>
                  <a:pt x="3394793" y="4434668"/>
                </a:lnTo>
                <a:lnTo>
                  <a:pt x="3142445" y="4465930"/>
                </a:lnTo>
                <a:lnTo>
                  <a:pt x="2899620" y="4412338"/>
                </a:lnTo>
                <a:lnTo>
                  <a:pt x="2404447" y="4019337"/>
                </a:lnTo>
                <a:lnTo>
                  <a:pt x="2204473" y="3952348"/>
                </a:lnTo>
                <a:lnTo>
                  <a:pt x="1885467" y="3992541"/>
                </a:lnTo>
                <a:lnTo>
                  <a:pt x="1185559" y="4278361"/>
                </a:lnTo>
                <a:lnTo>
                  <a:pt x="871314" y="4287292"/>
                </a:lnTo>
                <a:lnTo>
                  <a:pt x="618967" y="4126519"/>
                </a:lnTo>
                <a:lnTo>
                  <a:pt x="485651" y="3858563"/>
                </a:lnTo>
                <a:lnTo>
                  <a:pt x="457083" y="3554880"/>
                </a:lnTo>
                <a:lnTo>
                  <a:pt x="599921" y="2813536"/>
                </a:lnTo>
                <a:lnTo>
                  <a:pt x="609444" y="2433932"/>
                </a:lnTo>
                <a:lnTo>
                  <a:pt x="504696" y="2157044"/>
                </a:lnTo>
                <a:lnTo>
                  <a:pt x="147600" y="1781906"/>
                </a:lnTo>
                <a:lnTo>
                  <a:pt x="47613" y="1625598"/>
                </a:lnTo>
                <a:lnTo>
                  <a:pt x="0" y="1379972"/>
                </a:lnTo>
                <a:lnTo>
                  <a:pt x="42852" y="1134346"/>
                </a:lnTo>
                <a:lnTo>
                  <a:pt x="261870" y="848527"/>
                </a:lnTo>
                <a:lnTo>
                  <a:pt x="504696" y="763674"/>
                </a:lnTo>
                <a:lnTo>
                  <a:pt x="966540" y="705617"/>
                </a:lnTo>
                <a:lnTo>
                  <a:pt x="1128424" y="589503"/>
                </a:lnTo>
                <a:lnTo>
                  <a:pt x="1566461" y="133978"/>
                </a:lnTo>
                <a:lnTo>
                  <a:pt x="1747390" y="44659"/>
                </a:lnTo>
                <a:lnTo>
                  <a:pt x="1994977" y="0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02191" y="0"/>
            <a:ext cx="2229307" cy="685800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664208" y="3977639"/>
            <a:ext cx="4206240" cy="45720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2200" dirty="0" b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known as:</a:t>
            </a:r>
          </a:p>
        </p:txBody>
      </p:sp>
      <p:sp>
        <p:nvSpPr>
          <p:cNvPr id="20" name="Credit"/>
          <p:cNvSpPr txBox="1"/>
          <p:nvPr/>
        </p:nvSpPr>
        <p:spPr>
          <a:xfrm>
            <a:off x="1664208" y="6172200"/>
            <a:ext cx="4389120" cy="32004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100" dirty="0" b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Photo: Ruxin34 / Wikimedia Commons, CC BY 3.0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636776" y="1691640"/>
            <a:ext cx="4480560" cy="82296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263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Charlie White</a:t>
            </a:r>
          </a:p>
        </p:txBody>
      </p:sp>
      <p:sp>
        <p:nvSpPr>
          <p:cNvPr id="5" name="Shape 3"/>
          <p:cNvSpPr/>
          <p:nvPr/>
        </p:nvSpPr>
        <p:spPr>
          <a:xfrm>
            <a:off x="1751990" y="2606040"/>
            <a:ext cx="1085393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55064" y="1234440"/>
            <a:ext cx="4206240" cy="45720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he?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1664208" y="2788920"/>
            <a:ext cx="4389120" cy="96012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l" indent="0" marL="0">
              <a:buNone/>
            </a:pPr>
            <a:r>
              <a:rPr lang="en-US" sz="26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 YouTuber</a:t>
            </a:r>
          </a:p>
          <a:p>
            <a:pPr algn="l" indent="0" marL="0">
              <a:buNone/>
            </a:pPr>
            <a:r>
              <a:rPr lang="en-US" sz="26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streamer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1664208" y="4434840"/>
            <a:ext cx="438912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126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penguinz0</a:t>
            </a:r>
          </a:p>
          <a:p>
            <a:pPr algn="l" indent="0" marL="0">
              <a:buNone/>
            </a:pPr>
            <a:r>
              <a:rPr lang="en-US" sz="3000" dirty="0" b="1">
                <a:solidFill>
                  <a:srgbClr val="126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MoistCr1TiKaL</a:t>
            </a:r>
          </a:p>
        </p:txBody>
      </p:sp>
      <p:sp>
        <p:nvSpPr>
          <p:cNvPr id="9" name="Text 7"/>
          <p:cNvSpPr txBox="1"/>
          <p:nvPr/>
        </p:nvSpPr>
        <p:spPr>
          <a:xfrm rot="16200000">
            <a:off x="-1483157" y="3789274"/>
            <a:ext cx="4433011" cy="1323137"/>
          </a:xfrm>
          <a:prstGeom prst="rect">
            <a:avLst/>
          </a:prstGeom>
          <a:noFill/>
          <a:ln/>
        </p:spPr>
        <p:txBody>
          <a:bodyPr wrap="none" lIns="1270" tIns="635" rIns="1270" bIns="635" rtlCol="0" anchor="t"/>
          <a:lstStyle/>
          <a:p>
            <a:pPr algn="l" indent="0" marL="0">
              <a:buNone/>
            </a:pPr>
            <a:r>
              <a:rPr lang="en-US" sz="8000" b="1" spc="-300" kern="0" dirty="0">
                <a:ln w="9525">
                  <a:solidFill>
                    <a:srgbClr val="808080"/>
                  </a:solidFill>
                </a:ln>
                <a:solidFill>
                  <a:srgbClr val="000000">
                    <a:alpha val="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Who?</a:t>
            </a:r>
          </a:p>
        </p:txBody>
      </p:sp>
      <p:pic>
        <p:nvPicPr>
          <p:cNvPr id="10" name="Charlie White (Cr1TiKaL / penguinz0), March 2022" descr="Charlie White (Cr1TiKaL / penguinz0), March 20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146" y="0"/>
            <a:ext cx="4915814" cy="6858000"/>
          </a:xfrm>
          <a:custGeom>
            <a:avLst/>
            <a:gdLst/>
            <a:ahLst/>
            <a:cxnLst/>
            <a:rect l="l" t="t" r="r" b="b"/>
            <a:pathLst>
              <a:path w="4915814" h="6858000">
                <a:moveTo>
                  <a:pt x="668551" y="0"/>
                </a:moveTo>
                <a:lnTo>
                  <a:pt x="4915814" y="0"/>
                </a:lnTo>
                <a:lnTo>
                  <a:pt x="4915814" y="6089904"/>
                </a:lnTo>
                <a:lnTo>
                  <a:pt x="4148947" y="6858000"/>
                </a:lnTo>
                <a:lnTo>
                  <a:pt x="0" y="6858000"/>
                </a:lnTo>
                <a:lnTo>
                  <a:pt x="0" y="665226"/>
                </a:lnTo>
                <a:lnTo>
                  <a:pt x="668551" y="0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82104" y="3319272"/>
            <a:ext cx="5029200" cy="1298448"/>
          </a:xfrm>
          <a:prstGeom prst="rect">
            <a:avLst/>
          </a:prstGeom>
          <a:solidFill>
            <a:srgbClr val="404040"/>
          </a:solidFill>
          <a:ln/>
          <a:effectLst>
            <a:outerShdw sx="100000" sy="100000" kx="0" ky="0" algn="bl" rotWithShape="0" blurRad="50800" dist="381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6309360" y="1024128"/>
            <a:ext cx="5394960" cy="73152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 card story</a:t>
            </a:r>
          </a:p>
        </p:txBody>
      </p:sp>
      <p:sp>
        <p:nvSpPr>
          <p:cNvPr id="4" name="Shape 2"/>
          <p:cNvSpPr/>
          <p:nvPr/>
        </p:nvSpPr>
        <p:spPr>
          <a:xfrm>
            <a:off x="6410858" y="1810512"/>
            <a:ext cx="1584655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22999" y="2121408"/>
            <a:ext cx="19202" cy="4736592"/>
          </a:xfrm>
          <a:prstGeom prst="line">
            <a:avLst/>
          </a:prstGeom>
          <a:noFill/>
          <a:ln w="38100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57162" y="2121408"/>
            <a:ext cx="104242" cy="104242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7" name="Shape 5"/>
          <p:cNvSpPr/>
          <p:nvPr/>
        </p:nvSpPr>
        <p:spPr>
          <a:xfrm>
            <a:off x="6574536" y="3538728"/>
            <a:ext cx="104242" cy="104242"/>
          </a:xfrm>
          <a:prstGeom prst="ellipse">
            <a:avLst/>
          </a:prstGeom>
          <a:solidFill>
            <a:srgbClr val="FFC000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0" y="4956048"/>
            <a:ext cx="104242" cy="104242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903720" y="2395728"/>
            <a:ext cx="4800600" cy="96012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 b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started opening card packs on his live streams.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6903720" y="2011680"/>
            <a:ext cx="4754880" cy="384048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l" indent="0" marL="0">
              <a:buNone/>
            </a:pPr>
            <a:r>
              <a:rPr lang="en-US" sz="2200" b="1" spc="100" kern="0" dirty="0">
                <a:solidFill>
                  <a:srgbClr val="126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6903720" y="3813048"/>
            <a:ext cx="4800600" cy="96012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 b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has spent thousands of dollars on cards.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6903720" y="3429000"/>
            <a:ext cx="4754880" cy="384048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l" indent="0" marL="0">
              <a:buNone/>
            </a:pPr>
            <a:r>
              <a:rPr lang="en-US" sz="2200" b="1" spc="100" kern="0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the years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6903720" y="5230368"/>
            <a:ext cx="4800600" cy="128016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 b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posted the video "It's Time I Finally Admit It" and showed his Yu-Gi-Oh! collection.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6903720" y="4846320"/>
            <a:ext cx="4754880" cy="384048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l" indent="0" marL="0">
              <a:buNone/>
            </a:pPr>
            <a:r>
              <a:rPr lang="en-US" sz="2200" b="1" spc="100" kern="0" dirty="0">
                <a:solidFill>
                  <a:srgbClr val="126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</a:p>
        </p:txBody>
      </p:sp>
      <p:sp>
        <p:nvSpPr>
          <p:cNvPr id="18" name="Text 16"/>
          <p:cNvSpPr txBox="1"/>
          <p:nvPr/>
        </p:nvSpPr>
        <p:spPr>
          <a:xfrm>
            <a:off x="6355080" y="685800"/>
            <a:ext cx="5029200" cy="41148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6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Charlie White</a:t>
            </a:r>
          </a:p>
        </p:txBody>
      </p:sp>
      <p:sp>
        <p:nvSpPr>
          <p:cNvPr id="40" name="Credit"/>
          <p:cNvSpPr txBox="1"/>
          <p:nvPr/>
        </p:nvSpPr>
        <p:spPr>
          <a:xfrm>
            <a:off x="6355080" y="256032"/>
            <a:ext cx="5029200" cy="27432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l" indent="0" marL="0">
              <a:buNone/>
            </a:pPr>
            <a:r>
              <a:rPr lang="en-US" sz="1100" b="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Photo: Ruxin34 / Wikimedia Commons, CC BY 3.0</a:t>
            </a:r>
          </a:p>
        </p:txBody>
      </p:sp>
      <p:sp>
        <p:nvSpPr>
          <p:cNvPr id="19" name="Text 17"/>
          <p:cNvSpPr txBox="1"/>
          <p:nvPr/>
        </p:nvSpPr>
        <p:spPr>
          <a:xfrm rot="16200000">
            <a:off x="-1665122" y="3863340"/>
            <a:ext cx="4433011" cy="1323137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ln w="9525">
                  <a:solidFill>
                    <a:srgbClr val="808080"/>
                  </a:solidFill>
                </a:ln>
                <a:solidFill>
                  <a:srgbClr val="000000">
                    <a:alpha val="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</a:t>
            </a:r>
          </a:p>
        </p:txBody>
      </p:sp>
      <p:pic>
        <p:nvPicPr>
          <p:cNvPr id="20" name="Charlie White (Cr1TiKaL), March 2022" descr="Charlie White (Cr1TiKaL), March 20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179" y="0"/>
            <a:ext cx="468355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89604"/>
            <a:ext cx="3378708" cy="3168396"/>
          </a:xfrm>
          <a:prstGeom prst="rect">
            <a:avLst/>
          </a:prstGeom>
          <a:solidFill>
            <a:srgbClr val="FF86E7"/>
          </a:solidFill>
          <a:ln/>
        </p:spPr>
      </p:sp>
      <p:sp>
        <p:nvSpPr>
          <p:cNvPr id="3" name="Shape 1"/>
          <p:cNvSpPr/>
          <p:nvPr/>
        </p:nvSpPr>
        <p:spPr>
          <a:xfrm>
            <a:off x="3378708" y="3689604"/>
            <a:ext cx="5344668" cy="3168396"/>
          </a:xfrm>
          <a:prstGeom prst="rect">
            <a:avLst/>
          </a:prstGeom>
          <a:solidFill>
            <a:srgbClr val="40009D"/>
          </a:solidFill>
          <a:ln/>
        </p:spPr>
      </p:sp>
      <p:sp>
        <p:nvSpPr>
          <p:cNvPr id="4" name="Shape 2"/>
          <p:cNvSpPr/>
          <p:nvPr/>
        </p:nvSpPr>
        <p:spPr>
          <a:xfrm>
            <a:off x="8692286" y="0"/>
            <a:ext cx="3503981" cy="6858000"/>
          </a:xfrm>
          <a:prstGeom prst="rect">
            <a:avLst/>
          </a:prstGeom>
          <a:solidFill>
            <a:srgbClr val="FF86E7"/>
          </a:solidFill>
          <a:ln/>
        </p:spPr>
      </p:sp>
      <p:sp>
        <p:nvSpPr>
          <p:cNvPr id="5" name="Shape 3"/>
          <p:cNvSpPr/>
          <p:nvPr/>
        </p:nvSpPr>
        <p:spPr>
          <a:xfrm>
            <a:off x="3369564" y="0"/>
            <a:ext cx="5332781" cy="3689604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11480" y="502920"/>
            <a:ext cx="2834640" cy="246888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00" b="1" spc="200" kern="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he collect?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457200" y="2971800"/>
            <a:ext cx="2697480" cy="54864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ctr" indent="0" marL="0">
              <a:buNone/>
            </a:pPr>
            <a:r>
              <a:rPr lang="en-US" sz="1100" i="1" spc="50" kern="0" dirty="0" b="0">
                <a:solidFill>
                  <a:srgbClr val="595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 scans: Yugipedia (Blue-Eyes, Dark Magician); Bulbapedia (Charizard)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3378708" y="5897880"/>
            <a:ext cx="5317236" cy="86868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Magician</a:t>
            </a:r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600" b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Yu-Gi-Oh!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0" y="5897880"/>
            <a:ext cx="3378708" cy="86868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Blue-Eyes White Dragon</a:t>
            </a:r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600" b="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Yu-Gi-Oh!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8695944" y="5897880"/>
            <a:ext cx="3495751" cy="86868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Charizard</a:t>
            </a:r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600" b="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Pokémon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3995928" y="685800"/>
            <a:ext cx="4480560" cy="77724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cards</a:t>
            </a:r>
          </a:p>
        </p:txBody>
      </p:sp>
      <p:sp>
        <p:nvSpPr>
          <p:cNvPr id="12" name="Shape 10"/>
          <p:cNvSpPr/>
          <p:nvPr/>
        </p:nvSpPr>
        <p:spPr>
          <a:xfrm>
            <a:off x="4097426" y="1645006"/>
            <a:ext cx="5715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95928" y="1874519"/>
            <a:ext cx="4480560" cy="128016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3000" dirty="0" b="1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Yu-Gi-Oh!</a:t>
            </a:r>
          </a:p>
          <a:p>
            <a:pPr algn="l" indent="0" marL="0">
              <a:lnSpc>
                <a:spcPct val="150000"/>
              </a:lnSpc>
              <a:buNone/>
            </a:pPr>
            <a:r>
              <a:rPr lang="en-US" sz="3000" dirty="0" b="1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Pokémon</a:t>
            </a:r>
          </a:p>
        </p:txBody>
      </p:sp>
      <p:pic>
        <p:nvPicPr>
          <p:cNvPr id="30" name="Blue-Eyes White Dragon card (Yu-Gi-Oh!, Legend of Blue Eyes White Dragon)" descr="Blue-Eyes White Dragon card (Yu-Gi-Oh!, Legend of Blue Eyes White Dragon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09" y="3840480"/>
            <a:ext cx="1389888" cy="2011680"/>
          </a:xfrm>
          <a:prstGeom prst="rect">
            <a:avLst/>
          </a:prstGeom>
        </p:spPr>
      </p:pic>
      <p:pic>
        <p:nvPicPr>
          <p:cNvPr id="31" name="Dark Magician card (Yu-Gi-Oh!, Legend of Blue Eyes White Dragon)" descr="Dark Magician card (Yu-Gi-Oh!, Legend of Blue Eyes White Dragon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0670" y="3840480"/>
            <a:ext cx="1380744" cy="2011680"/>
          </a:xfrm>
          <a:prstGeom prst="rect">
            <a:avLst/>
          </a:prstGeom>
        </p:spPr>
      </p:pic>
      <p:pic>
        <p:nvPicPr>
          <p:cNvPr id="32" name="Charizard card (Pokémon, Base Set)" descr="Charizard card (Pokémon, Base Set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8376" y="1417320"/>
            <a:ext cx="29718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arlie White in his 2022 video &quot;It's Time I Finally Admit I" descr="Charlie White in his 2022 video &quot;It's Time I Finally Admit It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630875" cy="6858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5631790" y="4876495"/>
            <a:ext cx="6560820" cy="2009851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959706" y="4887468"/>
            <a:ext cx="671170" cy="2008022"/>
          </a:xfrm>
          <a:prstGeom prst="rect">
            <a:avLst/>
          </a:prstGeom>
          <a:solidFill>
            <a:srgbClr val="FCA629"/>
          </a:solidFill>
          <a:ln/>
        </p:spPr>
        <p:txBody>
          <a:bodyPr wrap="square" lIns="1270" tIns="635" rIns="1270" bIns="635" rtlCol="0" anchor="ctr" vert="vert270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FRAMED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6035040" y="5623560"/>
            <a:ext cx="5760720" cy="73152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00" dirty="0" b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cards hang in frames in his studio.</a:t>
            </a:r>
          </a:p>
        </p:txBody>
      </p:sp>
      <p:sp>
        <p:nvSpPr>
          <p:cNvPr id="40" name="Credit"/>
          <p:cNvSpPr txBox="1"/>
          <p:nvPr/>
        </p:nvSpPr>
        <p:spPr>
          <a:xfrm>
            <a:off x="6035040" y="4251960"/>
            <a:ext cx="5852160" cy="45720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 b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Photo: screenshot of penguinz0, "It's Time I Finally Admit It" (YouTube, 2022), via fabledframing.co.uk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6035040" y="5166360"/>
            <a:ext cx="5760720" cy="41148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l" indent="0" marL="0">
              <a:buNone/>
            </a:pPr>
            <a:r>
              <a:rPr lang="en-US" sz="2200" b="1" spc="100" kern="0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his walls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6035040" y="1600200"/>
            <a:ext cx="5760720" cy="251460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l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000" dirty="0" b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Ultra Rare (and rarer) card ever printed, all first edition</a:t>
            </a:r>
          </a:p>
          <a:p>
            <a:pPr algn="l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000" dirty="0" b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first-edition "Legend of Blue-Eyes White Dragon"</a:t>
            </a:r>
          </a:p>
          <a:p>
            <a:pPr algn="l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000" dirty="0" b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sixty Collector's Rares</a:t>
            </a:r>
          </a:p>
        </p:txBody>
      </p:sp>
      <p:sp>
        <p:nvSpPr>
          <p:cNvPr id="8" name="Shape 6"/>
          <p:cNvSpPr/>
          <p:nvPr/>
        </p:nvSpPr>
        <p:spPr>
          <a:xfrm>
            <a:off x="6126480" y="1371600"/>
            <a:ext cx="1065276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0" y="502920"/>
            <a:ext cx="5760720" cy="77724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spc="100" kern="0" dirty="0" b="1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collection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-21946" y="0"/>
            <a:ext cx="662940" cy="191018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" tIns="635" rIns="1270" bIns="635" rtlCol="0" anchor="ctr" vert="ver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30852" y="3429000"/>
            <a:ext cx="7660843" cy="342900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5545"/>
            <a:ext cx="4530852" cy="6842455"/>
          </a:xfrm>
          <a:prstGeom prst="rect">
            <a:avLst/>
          </a:prstGeom>
          <a:solidFill>
            <a:srgbClr val="FF86E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983480" y="4224528"/>
            <a:ext cx="6949440" cy="128016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l" indent="0" marL="0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000" dirty="0" b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</a:t>
            </a:r>
            <a:r>
              <a:rPr lang="en-US" sz="2000" dirty="0" b="1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spent</a:t>
            </a:r>
            <a:r>
              <a:rPr lang="en-US" sz="2000" dirty="0" b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thousands of dollars.</a:t>
            </a:r>
          </a:p>
          <a:p>
            <a:pPr algn="l" indent="0" marL="0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000" dirty="0" b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</a:t>
            </a:r>
            <a:r>
              <a:rPr lang="en-US" sz="2000" dirty="0" b="1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put</a:t>
            </a:r>
            <a:r>
              <a:rPr lang="en-US" sz="2000" dirty="0" b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his cards in frames.</a:t>
            </a:r>
          </a:p>
          <a:p>
            <a:pPr algn="l" indent="0" marL="0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000" dirty="0" b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 of people </a:t>
            </a:r>
            <a:r>
              <a:rPr lang="en-US" sz="2000" dirty="0" b="1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watched</a:t>
            </a:r>
            <a:r>
              <a:rPr lang="en-US" sz="2000" dirty="0" b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his videos.</a:t>
            </a:r>
          </a:p>
        </p:txBody>
      </p:sp>
      <p:sp>
        <p:nvSpPr>
          <p:cNvPr id="44" name="Rule2"/>
          <p:cNvSpPr txBox="1"/>
          <p:nvPr/>
        </p:nvSpPr>
        <p:spPr>
          <a:xfrm>
            <a:off x="4983480" y="5760720"/>
            <a:ext cx="6949440" cy="91440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l" indent="0" marL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2000" dirty="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 </a:t>
            </a:r>
            <a:r>
              <a:rPr lang="en-US" sz="2000" dirty="0" b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exact time, result now (so far, already, ever, since, for)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4983480" y="3547872"/>
            <a:ext cx="6858000" cy="54864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32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perfect</a:t>
            </a:r>
          </a:p>
        </p:txBody>
      </p:sp>
      <p:sp>
        <p:nvSpPr>
          <p:cNvPr id="8" name="Shape 6"/>
          <p:cNvSpPr/>
          <p:nvPr/>
        </p:nvSpPr>
        <p:spPr>
          <a:xfrm>
            <a:off x="5074920" y="4160520"/>
            <a:ext cx="5715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1024128"/>
            <a:ext cx="6858000" cy="128016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l" indent="0" marL="0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000" dirty="0" b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</a:t>
            </a:r>
            <a:r>
              <a:rPr lang="en-US" sz="2000" dirty="0" b="1">
                <a:solidFill>
                  <a:srgbClr val="126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started</a:t>
            </a:r>
            <a:r>
              <a:rPr lang="en-US" sz="2000" dirty="0" b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opening packs in 2019.</a:t>
            </a:r>
          </a:p>
          <a:p>
            <a:pPr algn="l" indent="0" marL="0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000" dirty="0" b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</a:t>
            </a:r>
            <a:r>
              <a:rPr lang="en-US" sz="2000" dirty="0" b="1">
                <a:solidFill>
                  <a:srgbClr val="126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posted</a:t>
            </a:r>
            <a:r>
              <a:rPr lang="en-US" sz="2000" dirty="0" b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video in 2022.</a:t>
            </a:r>
          </a:p>
          <a:p>
            <a:pPr algn="l" indent="0" marL="0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000" dirty="0" b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</a:t>
            </a:r>
            <a:r>
              <a:rPr lang="en-US" sz="2000" dirty="0" b="1">
                <a:solidFill>
                  <a:srgbClr val="126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showed</a:t>
            </a:r>
            <a:r>
              <a:rPr lang="en-US" sz="2000" dirty="0" b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his collection.</a:t>
            </a:r>
          </a:p>
        </p:txBody>
      </p:sp>
      <p:sp>
        <p:nvSpPr>
          <p:cNvPr id="43" name="Rule1"/>
          <p:cNvSpPr txBox="1"/>
          <p:nvPr/>
        </p:nvSpPr>
        <p:spPr>
          <a:xfrm>
            <a:off x="4983480" y="2487168"/>
            <a:ext cx="6949440" cy="77724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l" indent="0" marL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2000" dirty="0" b="1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 </a:t>
            </a:r>
            <a:r>
              <a:rPr lang="en-US" sz="2000" dirty="0" b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past time (in 2019, in 2022, ago, last ...)</a:t>
            </a:r>
          </a:p>
        </p:txBody>
      </p:sp>
      <p:sp>
        <p:nvSpPr>
          <p:cNvPr id="42" name="Credit"/>
          <p:cNvSpPr txBox="1"/>
          <p:nvPr/>
        </p:nvSpPr>
        <p:spPr>
          <a:xfrm>
            <a:off x="365760" y="6108192"/>
            <a:ext cx="3931920" cy="27432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 b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Thumbnail: penguinz0 on YouTube (i.ytimg.com)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4983480" y="274320"/>
            <a:ext cx="6858000" cy="54864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3200" b="1" dirty="0">
                <a:solidFill>
                  <a:srgbClr val="126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simple</a:t>
            </a:r>
          </a:p>
        </p:txBody>
      </p:sp>
      <p:sp>
        <p:nvSpPr>
          <p:cNvPr id="40" name="Title"/>
          <p:cNvSpPr txBox="1"/>
          <p:nvPr/>
        </p:nvSpPr>
        <p:spPr>
          <a:xfrm>
            <a:off x="411480" y="411480"/>
            <a:ext cx="3840480" cy="201168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4400" b="1" dirty="0" cap="none">
                <a:solidFill>
                  <a:srgbClr val="262626"/>
                </a:solidFill>
                <a:latin typeface="Georgia" pitchFamily="34" charset="0"/>
                <a:ea typeface="Arial" pitchFamily="34" charset="-122"/>
                <a:cs typeface="Arial" pitchFamily="34" charset="-120"/>
              </a:rPr>
              <a:t>Grammar in the story</a:t>
            </a:r>
          </a:p>
        </p:txBody>
      </p:sp>
      <p:sp>
        <p:nvSpPr>
          <p:cNvPr id="11" name="Shape 9"/>
          <p:cNvSpPr/>
          <p:nvPr/>
        </p:nvSpPr>
        <p:spPr>
          <a:xfrm>
            <a:off x="5074920" y="896112"/>
            <a:ext cx="5715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solid"/>
          </a:ln>
        </p:spPr>
      </p:sp>
      <p:pic>
        <p:nvPicPr>
          <p:cNvPr id="41" name="Charlie White holding a card in the thumbnail of his video &quot;" descr="Charlie White holding a card in the thumbnail of his video &quot;I'm Still Not Addicted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468880"/>
            <a:ext cx="3794760" cy="355701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19802" cy="6871716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3" name="Shape 1"/>
          <p:cNvSpPr/>
          <p:nvPr/>
        </p:nvSpPr>
        <p:spPr>
          <a:xfrm>
            <a:off x="5264201" y="2018081"/>
            <a:ext cx="6431890" cy="3244245"/>
          </a:xfrm>
          <a:prstGeom prst="roundRect">
            <a:avLst>
              <a:gd name="adj" fmla="val 1691"/>
            </a:avLst>
          </a:prstGeom>
          <a:solidFill>
            <a:srgbClr val="C9CBCE"/>
          </a:solidFill>
          <a:ln w="12700">
            <a:solidFill>
              <a:srgbClr val="9A9C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9317" y="2192503"/>
            <a:ext cx="5981657" cy="2790749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" name="Shape 3"/>
          <p:cNvSpPr/>
          <p:nvPr/>
        </p:nvSpPr>
        <p:spPr>
          <a:xfrm>
            <a:off x="5071244" y="5157673"/>
            <a:ext cx="6817803" cy="313959"/>
          </a:xfrm>
          <a:prstGeom prst="roundRect">
            <a:avLst>
              <a:gd name="adj" fmla="val 11650"/>
            </a:avLst>
          </a:prstGeom>
          <a:solidFill>
            <a:srgbClr val="D7D9D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266944" y="1051560"/>
            <a:ext cx="6428232" cy="68580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Video: "I'm Still Not Addicted"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5266944" y="5486400"/>
            <a:ext cx="6428232" cy="32004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ctr" indent="0" marL="0">
              <a:buNone/>
            </a:pPr>
            <a:r>
              <a:rPr lang="en-US" sz="1100" dirty="0" b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Thumbnail: penguinz0 on YouTube (i.ytimg.com)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603504" y="548640"/>
            <a:ext cx="4114800" cy="1554480"/>
          </a:xfrm>
          <a:prstGeom prst="rect">
            <a:avLst/>
          </a:prstGeom>
          <a:noFill/>
          <a:ln/>
        </p:spPr>
        <p:txBody>
          <a:bodyPr wrap="square" lIns="2540" tIns="1270" rIns="2540" bIns="127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C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"My addiction"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713232" y="2331720"/>
            <a:ext cx="3840480" cy="384048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l"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2200" dirty="0" b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often jokes that collecting cards is his "addiction".</a:t>
            </a:r>
          </a:p>
          <a:p>
            <a:pPr algn="l"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2200" dirty="0" b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he has also made money from it: millions of people have watched his videos.</a:t>
            </a:r>
          </a:p>
        </p:txBody>
      </p:sp>
      <p:pic>
        <p:nvPicPr>
          <p:cNvPr id="15" name="Thumbnail of penguinz0 video &quot;I'm Still Not Addicted&quot;: Charl" descr="Thumbnail of penguinz0 video &quot;I'm Still Not Addicted&quot;: Charlie holds a card, &quot;TOTAL PULL: $1,350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351" y="2171700"/>
            <a:ext cx="4938674" cy="290870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630"/>
            <a:ext cx="8850478" cy="685800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3" name="Shape 1"/>
          <p:cNvSpPr/>
          <p:nvPr/>
        </p:nvSpPr>
        <p:spPr>
          <a:xfrm>
            <a:off x="6761988" y="865937"/>
            <a:ext cx="107899" cy="107899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4" name="Shape 2"/>
          <p:cNvSpPr/>
          <p:nvPr/>
        </p:nvSpPr>
        <p:spPr>
          <a:xfrm>
            <a:off x="6498641" y="865937"/>
            <a:ext cx="107899" cy="107899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5" name="Shape 3"/>
          <p:cNvSpPr/>
          <p:nvPr/>
        </p:nvSpPr>
        <p:spPr>
          <a:xfrm>
            <a:off x="6235294" y="865937"/>
            <a:ext cx="107899" cy="107899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6" name="Shape 4"/>
          <p:cNvSpPr/>
          <p:nvPr/>
        </p:nvSpPr>
        <p:spPr>
          <a:xfrm>
            <a:off x="5971946" y="865937"/>
            <a:ext cx="107899" cy="107899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7" name="Shape 5"/>
          <p:cNvSpPr/>
          <p:nvPr/>
        </p:nvSpPr>
        <p:spPr>
          <a:xfrm>
            <a:off x="5708599" y="865937"/>
            <a:ext cx="107899" cy="107899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8" name="Shape 6"/>
          <p:cNvSpPr/>
          <p:nvPr/>
        </p:nvSpPr>
        <p:spPr>
          <a:xfrm>
            <a:off x="6761988" y="589788"/>
            <a:ext cx="107899" cy="107899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9" name="Shape 7"/>
          <p:cNvSpPr/>
          <p:nvPr/>
        </p:nvSpPr>
        <p:spPr>
          <a:xfrm>
            <a:off x="6498641" y="589788"/>
            <a:ext cx="107899" cy="107899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10" name="Shape 8"/>
          <p:cNvSpPr/>
          <p:nvPr/>
        </p:nvSpPr>
        <p:spPr>
          <a:xfrm>
            <a:off x="6235294" y="589788"/>
            <a:ext cx="107899" cy="107899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11" name="Shape 9"/>
          <p:cNvSpPr/>
          <p:nvPr/>
        </p:nvSpPr>
        <p:spPr>
          <a:xfrm>
            <a:off x="5971946" y="589788"/>
            <a:ext cx="107899" cy="107899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12" name="Shape 10"/>
          <p:cNvSpPr/>
          <p:nvPr/>
        </p:nvSpPr>
        <p:spPr>
          <a:xfrm>
            <a:off x="5708599" y="589788"/>
            <a:ext cx="107899" cy="107899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13" name="Shape 11"/>
          <p:cNvSpPr/>
          <p:nvPr/>
        </p:nvSpPr>
        <p:spPr>
          <a:xfrm>
            <a:off x="6761988" y="313639"/>
            <a:ext cx="107899" cy="107899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14" name="Shape 12"/>
          <p:cNvSpPr/>
          <p:nvPr/>
        </p:nvSpPr>
        <p:spPr>
          <a:xfrm>
            <a:off x="6498641" y="313639"/>
            <a:ext cx="107899" cy="107899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15" name="Shape 13"/>
          <p:cNvSpPr/>
          <p:nvPr/>
        </p:nvSpPr>
        <p:spPr>
          <a:xfrm>
            <a:off x="6235294" y="313639"/>
            <a:ext cx="107899" cy="107899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16" name="Shape 14"/>
          <p:cNvSpPr/>
          <p:nvPr/>
        </p:nvSpPr>
        <p:spPr>
          <a:xfrm>
            <a:off x="5971946" y="313639"/>
            <a:ext cx="107899" cy="107899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17" name="Shape 15"/>
          <p:cNvSpPr/>
          <p:nvPr/>
        </p:nvSpPr>
        <p:spPr>
          <a:xfrm>
            <a:off x="5708599" y="313639"/>
            <a:ext cx="107899" cy="107899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18" name="Shape 16"/>
          <p:cNvSpPr/>
          <p:nvPr/>
        </p:nvSpPr>
        <p:spPr>
          <a:xfrm>
            <a:off x="6761988" y="1142086"/>
            <a:ext cx="107899" cy="107899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8641" y="1142086"/>
            <a:ext cx="107899" cy="107899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20" name="Shape 18"/>
          <p:cNvSpPr/>
          <p:nvPr/>
        </p:nvSpPr>
        <p:spPr>
          <a:xfrm>
            <a:off x="6235294" y="1142086"/>
            <a:ext cx="107899" cy="107899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21" name="Shape 19"/>
          <p:cNvSpPr/>
          <p:nvPr/>
        </p:nvSpPr>
        <p:spPr>
          <a:xfrm>
            <a:off x="5971946" y="1142086"/>
            <a:ext cx="107899" cy="107899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22" name="Shape 20"/>
          <p:cNvSpPr/>
          <p:nvPr/>
        </p:nvSpPr>
        <p:spPr>
          <a:xfrm>
            <a:off x="5708599" y="1142086"/>
            <a:ext cx="107899" cy="107899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23" name="Shape 21"/>
          <p:cNvSpPr/>
          <p:nvPr/>
        </p:nvSpPr>
        <p:spPr>
          <a:xfrm>
            <a:off x="1609344" y="6167628"/>
            <a:ext cx="150876" cy="150876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24" name="Shape 22"/>
          <p:cNvSpPr/>
          <p:nvPr/>
        </p:nvSpPr>
        <p:spPr>
          <a:xfrm>
            <a:off x="1241755" y="6167628"/>
            <a:ext cx="150876" cy="150876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25" name="Shape 23"/>
          <p:cNvSpPr/>
          <p:nvPr/>
        </p:nvSpPr>
        <p:spPr>
          <a:xfrm>
            <a:off x="874166" y="6167628"/>
            <a:ext cx="150876" cy="150876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26" name="Shape 24"/>
          <p:cNvSpPr/>
          <p:nvPr/>
        </p:nvSpPr>
        <p:spPr>
          <a:xfrm>
            <a:off x="506578" y="6167628"/>
            <a:ext cx="150876" cy="150876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27" name="Shape 25"/>
          <p:cNvSpPr/>
          <p:nvPr/>
        </p:nvSpPr>
        <p:spPr>
          <a:xfrm>
            <a:off x="138989" y="6167628"/>
            <a:ext cx="150876" cy="150876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28" name="Shape 26"/>
          <p:cNvSpPr/>
          <p:nvPr/>
        </p:nvSpPr>
        <p:spPr>
          <a:xfrm>
            <a:off x="1609344" y="5782666"/>
            <a:ext cx="150876" cy="150876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29" name="Shape 27"/>
          <p:cNvSpPr/>
          <p:nvPr/>
        </p:nvSpPr>
        <p:spPr>
          <a:xfrm>
            <a:off x="1241755" y="5782666"/>
            <a:ext cx="150876" cy="150876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30" name="Shape 28"/>
          <p:cNvSpPr/>
          <p:nvPr/>
        </p:nvSpPr>
        <p:spPr>
          <a:xfrm>
            <a:off x="874166" y="5782666"/>
            <a:ext cx="150876" cy="150876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31" name="Shape 29"/>
          <p:cNvSpPr/>
          <p:nvPr/>
        </p:nvSpPr>
        <p:spPr>
          <a:xfrm>
            <a:off x="506578" y="5782666"/>
            <a:ext cx="150876" cy="150876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32" name="Shape 30"/>
          <p:cNvSpPr/>
          <p:nvPr/>
        </p:nvSpPr>
        <p:spPr>
          <a:xfrm>
            <a:off x="138989" y="5782666"/>
            <a:ext cx="150876" cy="150876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33" name="Shape 31"/>
          <p:cNvSpPr/>
          <p:nvPr/>
        </p:nvSpPr>
        <p:spPr>
          <a:xfrm>
            <a:off x="1609344" y="5397703"/>
            <a:ext cx="150876" cy="150876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34" name="Shape 32"/>
          <p:cNvSpPr/>
          <p:nvPr/>
        </p:nvSpPr>
        <p:spPr>
          <a:xfrm>
            <a:off x="1241755" y="5397703"/>
            <a:ext cx="150876" cy="150876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35" name="Shape 33"/>
          <p:cNvSpPr/>
          <p:nvPr/>
        </p:nvSpPr>
        <p:spPr>
          <a:xfrm>
            <a:off x="874166" y="5397703"/>
            <a:ext cx="150876" cy="150876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36" name="Shape 34"/>
          <p:cNvSpPr/>
          <p:nvPr/>
        </p:nvSpPr>
        <p:spPr>
          <a:xfrm>
            <a:off x="506578" y="5397703"/>
            <a:ext cx="150876" cy="150876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37" name="Shape 35"/>
          <p:cNvSpPr/>
          <p:nvPr/>
        </p:nvSpPr>
        <p:spPr>
          <a:xfrm>
            <a:off x="138989" y="5397703"/>
            <a:ext cx="150876" cy="150876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38" name="Shape 36"/>
          <p:cNvSpPr/>
          <p:nvPr/>
        </p:nvSpPr>
        <p:spPr>
          <a:xfrm>
            <a:off x="1609344" y="6552590"/>
            <a:ext cx="150876" cy="150876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39" name="Shape 37"/>
          <p:cNvSpPr/>
          <p:nvPr/>
        </p:nvSpPr>
        <p:spPr>
          <a:xfrm>
            <a:off x="1241755" y="6552590"/>
            <a:ext cx="150876" cy="150876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40" name="Shape 38"/>
          <p:cNvSpPr/>
          <p:nvPr/>
        </p:nvSpPr>
        <p:spPr>
          <a:xfrm>
            <a:off x="874166" y="6552590"/>
            <a:ext cx="150876" cy="150876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41" name="Shape 39"/>
          <p:cNvSpPr/>
          <p:nvPr/>
        </p:nvSpPr>
        <p:spPr>
          <a:xfrm>
            <a:off x="506578" y="6552590"/>
            <a:ext cx="150876" cy="150876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42" name="Shape 40"/>
          <p:cNvSpPr/>
          <p:nvPr/>
        </p:nvSpPr>
        <p:spPr>
          <a:xfrm>
            <a:off x="138989" y="6552590"/>
            <a:ext cx="150876" cy="150876"/>
          </a:xfrm>
          <a:prstGeom prst="ellipse">
            <a:avLst/>
          </a:prstGeom>
          <a:solidFill>
            <a:srgbClr val="595959"/>
          </a:solidFill>
          <a:ln/>
        </p:spPr>
      </p:sp>
      <p:pic>
        <p:nvPicPr>
          <p:cNvPr id="43" name="Charlie White (Cr1TiKaL) holding a Yu-Gi-Oh! card, March 202" descr="Charlie White (Cr1TiKaL) holding a Yu-Gi-Oh! card, March 20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518" y="576986"/>
            <a:ext cx="5486400" cy="6281014"/>
          </a:xfrm>
          <a:prstGeom prst="rect">
            <a:avLst/>
          </a:prstGeom>
        </p:spPr>
      </p:pic>
      <p:sp>
        <p:nvSpPr>
          <p:cNvPr id="44" name="Text 42"/>
          <p:cNvSpPr txBox="1"/>
          <p:nvPr/>
        </p:nvSpPr>
        <p:spPr>
          <a:xfrm>
            <a:off x="905256" y="1737360"/>
            <a:ext cx="4937760" cy="109728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</a:t>
            </a:r>
            <a:r>
              <a:rPr lang="en-US" sz="6000" b="1" spc="100" kern="0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you!</a:t>
            </a:r>
          </a:p>
        </p:txBody>
      </p:sp>
      <p:sp>
        <p:nvSpPr>
          <p:cNvPr id="45" name="Shape 43"/>
          <p:cNvSpPr/>
          <p:nvPr/>
        </p:nvSpPr>
        <p:spPr>
          <a:xfrm>
            <a:off x="996696" y="2971800"/>
            <a:ext cx="1085393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05256" y="3200400"/>
            <a:ext cx="4937760" cy="73152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3600" dirty="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questions?</a:t>
            </a:r>
          </a:p>
        </p:txBody>
      </p:sp>
      <p:sp>
        <p:nvSpPr>
          <p:cNvPr id="62" name="Text 60"/>
          <p:cNvSpPr txBox="1"/>
          <p:nvPr/>
        </p:nvSpPr>
        <p:spPr>
          <a:xfrm>
            <a:off x="2103120" y="6400800"/>
            <a:ext cx="3749039" cy="274320"/>
          </a:xfrm>
          <a:prstGeom prst="rect">
            <a:avLst/>
          </a:prstGeom>
          <a:noFill/>
          <a:ln/>
        </p:spPr>
        <p:txBody>
          <a:bodyPr wrap="square" lIns="1270" tIns="635" rIns="1270" bIns="635" rtlCol="0" anchor="t"/>
          <a:lstStyle/>
          <a:p>
            <a:pPr algn="l" indent="0" marL="0">
              <a:buNone/>
            </a:pPr>
            <a:r>
              <a:rPr lang="en-US" sz="110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Photo: Ruxin34 / Wikimedia Commons, CC BY 3.0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</dc:title>
  <dc:subject>PptxGenJS Presentation</dc:subject>
  <dc:creator/>
  <cp:lastModifiedBy/>
  <cp:revision>1</cp:revision>
  <dcterms:created xsi:type="dcterms:W3CDTF">2026-10-23T13:06:40Z</dcterms:created>
  <dcterms:modified xsi:type="dcterms:W3CDTF">2026-10-23T13:06:40Z</dcterms:modified>
</cp:coreProperties>
</file>